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7481162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7481162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7481162e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7481162e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7481162ee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7481162ee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7481162ee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7481162ee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7481162e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7481162e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7481162ee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7481162ee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7481162ee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7481162ee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7481162ee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7481162ee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7481162ee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7481162ee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7481162ee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7481162ee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7481162ee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7481162ee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25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2.png"/><Relationship Id="rId4" Type="http://schemas.openxmlformats.org/officeDocument/2006/relationships/image" Target="../media/image6.png"/><Relationship Id="rId11" Type="http://schemas.openxmlformats.org/officeDocument/2006/relationships/image" Target="../media/image34.png"/><Relationship Id="rId10" Type="http://schemas.openxmlformats.org/officeDocument/2006/relationships/image" Target="../media/image17.png"/><Relationship Id="rId9" Type="http://schemas.openxmlformats.org/officeDocument/2006/relationships/image" Target="../media/image33.png"/><Relationship Id="rId5" Type="http://schemas.openxmlformats.org/officeDocument/2006/relationships/image" Target="../media/image13.png"/><Relationship Id="rId6" Type="http://schemas.openxmlformats.org/officeDocument/2006/relationships/image" Target="../media/image21.png"/><Relationship Id="rId7" Type="http://schemas.openxmlformats.org/officeDocument/2006/relationships/image" Target="../media/image23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31.png"/><Relationship Id="rId13" Type="http://schemas.openxmlformats.org/officeDocument/2006/relationships/image" Target="../media/image38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png"/><Relationship Id="rId4" Type="http://schemas.openxmlformats.org/officeDocument/2006/relationships/image" Target="../media/image26.png"/><Relationship Id="rId9" Type="http://schemas.openxmlformats.org/officeDocument/2006/relationships/image" Target="../media/image46.png"/><Relationship Id="rId14" Type="http://schemas.openxmlformats.org/officeDocument/2006/relationships/image" Target="../media/image30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40.png"/><Relationship Id="rId8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43.png"/><Relationship Id="rId5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Линейная регрессия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255800" y="4284750"/>
            <a:ext cx="4576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Выполнил: Худорожков Ян гр.25222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Построение линейной регрессии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25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Линейная регрессия — это метод построения модели, которая приближает зависимость числовой целевой переменной y от признаков x линейной функцией параметров: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8875" y="2359723"/>
            <a:ext cx="4456551" cy="7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Постановка задачи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Имеются наблюдения: (  _i, y_i), где     — признаки объекта,    — целевое значение.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Нужно построить функцию прогноза \hat y(x), которая по x выдаёт оценку 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 регрессии важно различать: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истинное значение</a:t>
            </a:r>
            <a:r>
              <a:rPr lang="ru">
                <a:solidFill>
                  <a:schemeClr val="dk1"/>
                </a:solidFill>
              </a:rPr>
              <a:t>    ,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прогноз</a:t>
            </a:r>
            <a:r>
              <a:rPr lang="ru">
                <a:solidFill>
                  <a:schemeClr val="dk1"/>
                </a:solidFill>
              </a:rPr>
              <a:t>     ,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ошибку</a:t>
            </a:r>
            <a:r>
              <a:rPr lang="ru">
                <a:solidFill>
                  <a:schemeClr val="dk1"/>
                </a:solidFill>
              </a:rPr>
              <a:t> (остаток) </a:t>
            </a:r>
            <a:r>
              <a:rPr lang="ru">
                <a:solidFill>
                  <a:schemeClr val="dk1"/>
                </a:solidFill>
              </a:rPr>
              <a:t>e_i = y_i - \hat y_i</a:t>
            </a:r>
            <a:r>
              <a:rPr lang="ru">
                <a:solidFill>
                  <a:schemeClr val="dk1"/>
                </a:solidFill>
              </a:rPr>
              <a:t>.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9500" y="1264225"/>
            <a:ext cx="712225" cy="30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9525" y="1292800"/>
            <a:ext cx="279435" cy="24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59750" y="1281175"/>
            <a:ext cx="279425" cy="247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4225" y="3002325"/>
            <a:ext cx="279425" cy="247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4850" y="3286800"/>
            <a:ext cx="287957" cy="30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7075" y="1292800"/>
            <a:ext cx="8640351" cy="279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Модель: один признак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275" y="1269075"/>
            <a:ext cx="6762374" cy="206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5150" y="1855725"/>
            <a:ext cx="1507825" cy="36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8200" y="1789812"/>
            <a:ext cx="2669950" cy="4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Модель: несколько признаков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650" y="1152476"/>
            <a:ext cx="7310275" cy="113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7450" y="1807722"/>
            <a:ext cx="5378001" cy="59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4525" y="1860225"/>
            <a:ext cx="3574950" cy="3822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370500" y="2571750"/>
            <a:ext cx="8461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/>
              <a:t>Здесь коэффициент     отражает вклад признака    ​ в прогноз при фиксированных остальных признаках модели.</a:t>
            </a:r>
            <a:endParaRPr sz="170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40975" y="2673924"/>
            <a:ext cx="243550" cy="2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50075" y="2697000"/>
            <a:ext cx="313140" cy="2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Пример</a:t>
            </a:r>
            <a:r>
              <a:rPr lang="ru"/>
              <a:t> линейной регрессии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525" y="1088950"/>
            <a:ext cx="7094949" cy="39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3149" y="902000"/>
            <a:ext cx="719726" cy="267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Обучение через метод наименьших квадратов</a:t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825" y="1152475"/>
            <a:ext cx="5882325" cy="451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7225" y="2028000"/>
            <a:ext cx="1238475" cy="27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497" y="2556525"/>
            <a:ext cx="2333075" cy="2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07550" y="2420525"/>
            <a:ext cx="1610292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1143" y="3021188"/>
            <a:ext cx="3696474" cy="77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85050" y="3072163"/>
            <a:ext cx="1493150" cy="52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1500" y="3190825"/>
            <a:ext cx="1610300" cy="28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6925" y="4218995"/>
            <a:ext cx="2799657" cy="52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78200" y="3552363"/>
            <a:ext cx="4552950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81600" y="4820588"/>
            <a:ext cx="4552950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17850" y="2246988"/>
            <a:ext cx="4552950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198900" y="1970800"/>
            <a:ext cx="37719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находятся коэффициенты</a:t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Есть два </a:t>
            </a:r>
            <a:r>
              <a:rPr lang="ru" sz="1400">
                <a:solidFill>
                  <a:schemeClr val="dk1"/>
                </a:solidFill>
              </a:rPr>
              <a:t>распространенных</a:t>
            </a:r>
            <a:r>
              <a:rPr lang="ru" sz="1400">
                <a:solidFill>
                  <a:schemeClr val="dk1"/>
                </a:solidFill>
              </a:rPr>
              <a:t> подхода.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</a:rPr>
              <a:t>1) OLS (обычные наименьшие квадраты).</a:t>
            </a:r>
            <a:br>
              <a:rPr b="1" lang="ru" sz="1400">
                <a:solidFill>
                  <a:schemeClr val="dk1"/>
                </a:solidFill>
              </a:rPr>
            </a:br>
            <a:r>
              <a:rPr lang="ru" sz="1400">
                <a:solidFill>
                  <a:schemeClr val="dk1"/>
                </a:solidFill>
              </a:rPr>
              <a:t>Для линейной регрессии существует аналитическое решение через линейную алгебру. Оно даёт параметры, минимизирующие квадрат ошибки на обучающей выборке.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400">
                <a:solidFill>
                  <a:schemeClr val="dk1"/>
                </a:solidFill>
              </a:rPr>
              <a:t>2) Градиентные методы.</a:t>
            </a:r>
            <a:br>
              <a:rPr b="1" lang="ru" sz="1400">
                <a:solidFill>
                  <a:schemeClr val="dk1"/>
                </a:solidFill>
              </a:rPr>
            </a:br>
            <a:r>
              <a:rPr lang="ru" sz="1400">
                <a:solidFill>
                  <a:schemeClr val="dk1"/>
                </a:solidFill>
              </a:rPr>
              <a:t>Можно минимизировать ту же функцию потерь итеративно: на каждом шаге корректировать коэффициенты в сторону уменьшения ошибки.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Формула OLS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</a:rPr>
              <a:t>Пусть у нас n объектов и p признаков. Соберём: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" sz="1300">
                <a:solidFill>
                  <a:schemeClr val="dk1"/>
                </a:solidFill>
              </a:rPr>
              <a:t>                         — </a:t>
            </a:r>
            <a:r>
              <a:rPr i="1" lang="ru" sz="1300">
                <a:solidFill>
                  <a:schemeClr val="dk1"/>
                </a:solidFill>
              </a:rPr>
              <a:t>дизайн-матрица</a:t>
            </a:r>
            <a:r>
              <a:rPr lang="ru" sz="1300">
                <a:solidFill>
                  <a:schemeClr val="dk1"/>
                </a:solidFill>
              </a:rPr>
              <a:t>: первая колонка из единиц (для      ), дальше признаки 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" sz="1300">
                <a:solidFill>
                  <a:schemeClr val="dk1"/>
                </a:solidFill>
              </a:rPr>
              <a:t>                         — вектор истинных значений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" sz="1300">
                <a:solidFill>
                  <a:schemeClr val="dk1"/>
                </a:solidFill>
              </a:rPr>
              <a:t>                         — вектор коэффициентов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</a:rPr>
              <a:t>Модель: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</a:rPr>
              <a:t>OLS выбирает    ​, минимизируя сумму квадратов ошибок: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</a:rPr>
              <a:t>Решение (если            обратима):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300">
                <a:solidFill>
                  <a:schemeClr val="dk1"/>
                </a:solidFill>
              </a:rPr>
              <a:t>Эквивалентная форма — </a:t>
            </a:r>
            <a:r>
              <a:rPr b="1" lang="ru" sz="1300">
                <a:solidFill>
                  <a:schemeClr val="dk1"/>
                </a:solidFill>
              </a:rPr>
              <a:t>нормальные уравнения</a:t>
            </a:r>
            <a:r>
              <a:rPr lang="ru" sz="1300">
                <a:solidFill>
                  <a:schemeClr val="dk1"/>
                </a:solidFill>
              </a:rPr>
              <a:t>: 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200" y="1604875"/>
            <a:ext cx="1045550" cy="2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0274" y="1639501"/>
            <a:ext cx="185708" cy="19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9075" y="1639510"/>
            <a:ext cx="748075" cy="19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5275" y="1864875"/>
            <a:ext cx="679917" cy="19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5274" y="2120124"/>
            <a:ext cx="832975" cy="19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14691" y="2089300"/>
            <a:ext cx="1232899" cy="19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04900" y="2425674"/>
            <a:ext cx="832975" cy="297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63800" y="2834450"/>
            <a:ext cx="120771" cy="19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944975" y="2814891"/>
            <a:ext cx="1567696" cy="29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207450" y="3203675"/>
            <a:ext cx="1398725" cy="2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486866" y="3576366"/>
            <a:ext cx="1138272" cy="2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658250" y="3216425"/>
            <a:ext cx="417550" cy="19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Оценка качества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Качество нужно оценивать на данных, которые не использовались при подборе коэффициентов.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Стандартная схема: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" sz="1400">
                <a:solidFill>
                  <a:schemeClr val="dk1"/>
                </a:solidFill>
              </a:rPr>
              <a:t>train</a:t>
            </a:r>
            <a:r>
              <a:rPr lang="ru" sz="1400">
                <a:solidFill>
                  <a:schemeClr val="dk1"/>
                </a:solidFill>
              </a:rPr>
              <a:t>: обучение модели (подбор b),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" sz="1400">
                <a:solidFill>
                  <a:schemeClr val="dk1"/>
                </a:solidFill>
              </a:rPr>
              <a:t>test/validation</a:t>
            </a:r>
            <a:r>
              <a:rPr lang="ru" sz="1400">
                <a:solidFill>
                  <a:schemeClr val="dk1"/>
                </a:solidFill>
              </a:rPr>
              <a:t>: измерение качества прогноза.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Если измерять качество только на train, можно получить завышенные оценки и не заметить ухудшение на новых данных.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Метрики качества регрессии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Две базовые метрики.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</a:rPr>
              <a:t>MAE</a:t>
            </a:r>
            <a:r>
              <a:rPr lang="ru" sz="1400">
                <a:solidFill>
                  <a:schemeClr val="dk1"/>
                </a:solidFill>
              </a:rPr>
              <a:t> — средняя абсолютная ошибка: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</a:rPr>
              <a:t>RMSE</a:t>
            </a:r>
            <a:r>
              <a:rPr lang="ru" sz="1400">
                <a:solidFill>
                  <a:schemeClr val="dk1"/>
                </a:solidFill>
              </a:rPr>
              <a:t> — корень из средней квадратичной ошибки: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0451" y="1567176"/>
            <a:ext cx="1554900" cy="4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050" y="1923775"/>
            <a:ext cx="1799725" cy="5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Контакты</a:t>
            </a:r>
            <a:endParaRPr/>
          </a:p>
        </p:txBody>
      </p:sp>
      <p:sp>
        <p:nvSpPr>
          <p:cNvPr id="163" name="Google Shape;163;p24"/>
          <p:cNvSpPr txBox="1"/>
          <p:nvPr/>
        </p:nvSpPr>
        <p:spPr>
          <a:xfrm>
            <a:off x="311700" y="1453750"/>
            <a:ext cx="8520600" cy="31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45720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000000"/>
                </a:solidFill>
              </a:rPr>
              <a:t>Телефон: 		+79952726617</a:t>
            </a:r>
            <a:endParaRPr sz="2000">
              <a:solidFill>
                <a:srgbClr val="000000"/>
              </a:solidFill>
            </a:endParaRPr>
          </a:p>
          <a:p>
            <a:pPr indent="45720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000000"/>
                </a:solidFill>
              </a:rPr>
              <a:t>Почта:			y.khudorozhkov@g.nsu.ru</a:t>
            </a:r>
            <a:endParaRPr sz="2000">
              <a:solidFill>
                <a:srgbClr val="000000"/>
              </a:solidFill>
            </a:endParaRPr>
          </a:p>
          <a:p>
            <a:pPr indent="45720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>
                <a:solidFill>
                  <a:srgbClr val="000000"/>
                </a:solidFill>
              </a:rPr>
              <a:t>Telegram: 		@rdhkyy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4503" y="2032602"/>
            <a:ext cx="380700" cy="358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4500" y="2571750"/>
            <a:ext cx="380698" cy="2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4510" y="3032100"/>
            <a:ext cx="380700" cy="35831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